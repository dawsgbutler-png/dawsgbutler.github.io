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6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9B73B-58BA-447F-9549-3E88A79830F5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DD25E-9C9E-4F36-9A78-3A55778A0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025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my question becomes simple. What could we do to prevent the recordable from even happening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82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goal is not to replace Gaylor's current safety metrics. The goal is to add an earlier signal that may help identify recurring risk sooner.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039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value is not simply collecting another report. The value is finding repeated patterns, making those patterns measurable, and acting on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242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Those risks can be reduced by keeping reporting fast, communicating a learning-focused purpose, and showing employees when their reports lead to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370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28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DD25E-9C9E-4F36-9A78-3A55778A0C5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7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136"/>
            <a:ext cx="12191695" cy="6858000"/>
          </a:xfrm>
          <a:prstGeom prst="rect">
            <a:avLst/>
          </a:prstGeom>
          <a:solidFill>
            <a:srgbClr val="14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09728" cy="438912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35764"/>
            <a:ext cx="67779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rPr sz="4400" dirty="0"/>
              <a:t>BEFORE THE RECORDABLE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1415" y="2260840"/>
            <a:ext cx="8961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ED7F0"/>
                </a:solidFill>
                <a:latin typeface="Aptos"/>
              </a:defRPr>
            </a:pPr>
            <a:r>
              <a:rPr dirty="0"/>
              <a:t>Using Near Miss Data as an Early Safety Indicator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886200"/>
            <a:ext cx="521848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i="1">
                <a:solidFill>
                  <a:srgbClr val="FFFFFF"/>
                </a:solidFill>
                <a:latin typeface="Aptos"/>
              </a:defRPr>
            </a:pPr>
            <a:r>
              <a:rPr lang="en-US" sz="1200" i="1" dirty="0"/>
              <a:t>“How can Gaylor identify jobsite safety risks before they become incidents?”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89788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AAB9C8"/>
                </a:solidFill>
                <a:latin typeface="Aptos"/>
              </a:defRPr>
            </a:pPr>
            <a:r>
              <a:t>College Internship Capstone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440680"/>
            <a:ext cx="9144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  <a:latin typeface="Aptos"/>
              </a:defRPr>
            </a:pPr>
            <a:r>
              <a:t>Dawson Butler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384048"/>
            <a:ext cx="257352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sz="2800" b="1" dirty="0"/>
              <a:t>The Safety Goal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47388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The measurable challenge identified in our Strategy &amp; Goals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2971800" cy="2971800"/>
          </a:xfrm>
          <a:prstGeom prst="ellipse">
            <a:avLst/>
          </a:prstGeom>
          <a:solidFill>
            <a:srgbClr val="EEF5FC"/>
          </a:solidFill>
          <a:ln w="50800"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1097280" y="2698710"/>
            <a:ext cx="2514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BBB"/>
                </a:solidFill>
                <a:latin typeface="Aptos Display"/>
              </a:defRPr>
            </a:pPr>
            <a:r>
              <a:rPr dirty="0"/>
              <a:t>0.32</a:t>
            </a:r>
          </a:p>
          <a:p>
            <a:pPr algn="ctr">
              <a:defRPr sz="1300">
                <a:solidFill>
                  <a:srgbClr val="5D6D7E"/>
                </a:solidFill>
                <a:latin typeface="Aptos"/>
              </a:defRPr>
            </a:pPr>
            <a:r>
              <a:rPr dirty="0"/>
              <a:t>YTD Recordable Incident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874519"/>
            <a:ext cx="6766560" cy="123444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874519"/>
            <a:ext cx="73152" cy="123444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039112"/>
            <a:ext cx="17040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rPr dirty="0"/>
              <a:t>Gaylor's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32887"/>
            <a:ext cx="582621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We has set a clear goal to maintain a recordable incident rate below 0.20.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4343400" y="3383280"/>
            <a:ext cx="676656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3383280"/>
            <a:ext cx="73152" cy="1417320"/>
          </a:xfrm>
          <a:prstGeom prst="rect">
            <a:avLst/>
          </a:prstGeom>
          <a:solidFill>
            <a:srgbClr val="E7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3547872"/>
            <a:ext cx="6355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rPr dirty="0"/>
              <a:t>The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55730"/>
            <a:ext cx="64648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The current metric is important, but it tells us what has already happened. This project asks what Gaylor could measure earlier to recognize risk before another incident occurs.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4480560" y="516636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2134"/>
                </a:solidFill>
                <a:latin typeface="Aptos Display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D6D7E"/>
                </a:solidFill>
                <a:latin typeface="Aptos"/>
              </a:defRPr>
            </a:pPr>
            <a:r>
              <a:rPr dirty="0"/>
              <a:t>Internal evidence: Gaylor 2026 Strategy &amp; Goals Team Scoring Detail, June 30, 2026.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4318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dirty="0"/>
              <a:t>The Gap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534486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Old data show outcomes. Leading indicators can reveal risk earlier.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34747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3474720"/>
          </a:xfrm>
          <a:prstGeom prst="rect">
            <a:avLst/>
          </a:prstGeom>
          <a:solidFill>
            <a:srgbClr val="BE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Lagging indicator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87168"/>
            <a:ext cx="445877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Recordable incident rate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Measures injuries and illnesses after they occur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Essential for performance tracking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Limited as an early warning by itself</a:t>
            </a:r>
          </a:p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endParaRPr dirty="0">
              <a:solidFill>
                <a:srgbClr val="5D6D7E"/>
              </a:solidFill>
              <a:latin typeface="Aptos" panose="020B0004020202020204" pitchFamily="34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66360" cy="34747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73152" cy="347472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4754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Leading indicator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1" y="2487168"/>
            <a:ext cx="4437601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Near-miss reporting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Proactive and preventive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Can reveal potential safety program problems</a:t>
            </a:r>
          </a:p>
          <a:p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Creates opportunities for corrective action before an injury</a:t>
            </a:r>
          </a:p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endParaRPr dirty="0">
              <a:solidFill>
                <a:srgbClr val="5D6D7E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5840" y="5623560"/>
            <a:ext cx="101498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05BBB"/>
                </a:solidFill>
                <a:latin typeface="Aptos"/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D6D7E"/>
                </a:solidFill>
                <a:latin typeface="Aptos"/>
              </a:defRPr>
            </a:pPr>
            <a:r>
              <a:t>Sources: OSHA Leading Indicators; OSHA clarification on lagging vs. leading indicators.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38751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sz="2800" b="1" dirty="0"/>
              <a:t>What the Research Says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450219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Near misses are recognized as useful safety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74720" cy="34747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47472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OSHA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87168"/>
            <a:ext cx="306323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5D6D7E"/>
                </a:solidFill>
              </a:rPr>
              <a:t>• Encourages investigation of close calls and near misses</a:t>
            </a:r>
          </a:p>
          <a:p>
            <a:r>
              <a:rPr lang="en-US" sz="1400" dirty="0">
                <a:solidFill>
                  <a:srgbClr val="5D6D7E"/>
                </a:solidFill>
              </a:rPr>
              <a:t>• Near misses can expose unsafe conditions and work practices</a:t>
            </a:r>
          </a:p>
          <a:p>
            <a:r>
              <a:rPr lang="en-US" sz="1400" dirty="0">
                <a:solidFill>
                  <a:srgbClr val="5D6D7E"/>
                </a:solidFill>
              </a:rPr>
              <a:t>• Identifies risks before a serious injury occurs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74720" cy="34747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73152" cy="347472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9933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Leading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487168"/>
            <a:ext cx="306323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Provide proactive safety data</a:t>
            </a:r>
          </a:p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Track near misses, response time, and corrective actions</a:t>
            </a:r>
          </a:p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Identify trends instead of relying only on injury totals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34747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474720"/>
          </a:xfrm>
          <a:prstGeom prst="rect">
            <a:avLst/>
          </a:prstGeom>
          <a:solidFill>
            <a:srgbClr val="E7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9339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Construction research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487168"/>
            <a:ext cx="306323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CPWR emphasizes proactive safety practices in construction</a:t>
            </a:r>
          </a:p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Leading indicators help recognize recurring risks</a:t>
            </a:r>
          </a:p>
          <a:p>
            <a:r>
              <a:rPr lang="en-US" sz="1600" dirty="0">
                <a:solidFill>
                  <a:srgbClr val="5D6D7E"/>
                </a:solidFill>
                <a:latin typeface="Aptos" panose="020B0004020202020204" pitchFamily="34" charset="0"/>
              </a:rPr>
              <a:t>• Earlier identification allows hazards to be corrected sooner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42134"/>
                </a:solidFill>
                <a:latin typeface="Aptos"/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D6D7E"/>
                </a:solidFill>
                <a:latin typeface="Aptos"/>
              </a:defRPr>
            </a:pPr>
            <a:r>
              <a:t>Sources: OSHA Incident Investigation; OSHA Program Evaluation &amp; Improvement; CPWR Leading Indicators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46386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dirty="0"/>
              <a:t>Solution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483241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400" dirty="0"/>
              <a:t>A simple near-miss reporting and trend identification system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88940"/>
            <a:ext cx="2286000" cy="2377440"/>
          </a:xfrm>
          <a:prstGeom prst="roundRect">
            <a:avLst/>
          </a:prstGeom>
          <a:solidFill>
            <a:srgbClr val="EEF5FC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90472" y="2144972"/>
            <a:ext cx="658368" cy="65836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2089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679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134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" y="3443420"/>
            <a:ext cx="1856314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D6D7E"/>
                </a:solidFill>
                <a:latin typeface="Aptos"/>
              </a:defRPr>
            </a:pPr>
            <a:r>
              <a:rPr lang="en-US" sz="1300" dirty="0"/>
              <a:t>Scan a visible QR code on the jobsite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3017520" y="27576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BBB"/>
                </a:solidFill>
              </a:defRPr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520440" y="1888940"/>
            <a:ext cx="2286000" cy="2377440"/>
          </a:xfrm>
          <a:prstGeom prst="roundRect">
            <a:avLst/>
          </a:prstGeom>
          <a:solidFill>
            <a:srgbClr val="EEF5FC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25112" y="2144972"/>
            <a:ext cx="658368" cy="65836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20440" y="22089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9679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134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443420"/>
            <a:ext cx="188127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D6D7E"/>
                </a:solidFill>
                <a:latin typeface="Aptos"/>
              </a:defRPr>
            </a:pPr>
            <a:r>
              <a:rPr dirty="0"/>
              <a:t>Complete a simple mobile form in about 30 seconds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576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BBB"/>
                </a:solidFill>
              </a:defRPr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55080" y="1888940"/>
            <a:ext cx="2286000" cy="2377440"/>
          </a:xfrm>
          <a:prstGeom prst="roundRect">
            <a:avLst/>
          </a:prstGeom>
          <a:solidFill>
            <a:srgbClr val="EEF5FC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159752" y="2144972"/>
            <a:ext cx="658368" cy="65836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2089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9679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134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634" y="3443420"/>
            <a:ext cx="185334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D6D7E"/>
                </a:solidFill>
                <a:latin typeface="Aptos"/>
              </a:defRPr>
            </a:pPr>
            <a:r>
              <a:rPr lang="en-US" sz="1300" dirty="0"/>
              <a:t>Group reports by hazard, location, and activity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686800" y="27576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5BBB"/>
                </a:solidFill>
              </a:defRPr>
            </a:pPr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189720" y="1888940"/>
            <a:ext cx="2286000" cy="2377440"/>
          </a:xfrm>
          <a:prstGeom prst="roundRect">
            <a:avLst/>
          </a:prstGeom>
          <a:solidFill>
            <a:srgbClr val="EEF5FC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994392" y="2144972"/>
            <a:ext cx="658368" cy="658368"/>
          </a:xfrm>
          <a:prstGeom prst="ellipse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9720" y="220898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9679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42134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7887" y="3443420"/>
            <a:ext cx="1884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5D6D7E"/>
                </a:solidFill>
                <a:latin typeface="Aptos"/>
              </a:defRPr>
            </a:pPr>
            <a:r>
              <a:rPr lang="en-US" sz="1300" dirty="0"/>
              <a:t>Review trends and address repeated risks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051560" y="4369788"/>
            <a:ext cx="10058400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No complex reporting process for the worker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Optional photo and short description provide useful context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A dashboard turns individual reports into measurable safety trends</a:t>
            </a:r>
          </a:p>
          <a:p>
            <a:pPr>
              <a:lnSpc>
                <a:spcPct val="20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Incentivize workers when changes are made</a:t>
            </a:r>
          </a:p>
        </p:txBody>
      </p:sp>
      <p:sp>
        <p:nvSpPr>
          <p:cNvPr id="31" name="Rounded Rectangle 5">
            <a:extLst>
              <a:ext uri="{FF2B5EF4-FFF2-40B4-BE49-F238E27FC236}">
                <a16:creationId xmlns:a16="http://schemas.microsoft.com/office/drawing/2014/main" id="{B9A90282-1718-D62F-4ACE-C937EEE63619}"/>
              </a:ext>
            </a:extLst>
          </p:cNvPr>
          <p:cNvSpPr/>
          <p:nvPr/>
        </p:nvSpPr>
        <p:spPr>
          <a:xfrm>
            <a:off x="661620" y="4613852"/>
            <a:ext cx="10814099" cy="1911096"/>
          </a:xfrm>
          <a:prstGeom prst="roundRect">
            <a:avLst/>
          </a:prstGeom>
          <a:solidFill>
            <a:srgbClr val="EEF5FC"/>
          </a:solidFill>
          <a:ln>
            <a:solidFill>
              <a:srgbClr val="005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61915A3-661E-DA6D-CAC4-BB82B869FB7E}"/>
              </a:ext>
            </a:extLst>
          </p:cNvPr>
          <p:cNvSpPr txBox="1"/>
          <p:nvPr/>
        </p:nvSpPr>
        <p:spPr>
          <a:xfrm>
            <a:off x="976894" y="4709200"/>
            <a:ext cx="1005840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No complex reporting process for the worker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Optional photo and short description provide useful context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A dashboard turns individual reports into measurable safety trends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rgbClr val="5D6D7E"/>
                </a:solidFill>
                <a:latin typeface="Aptos" panose="020B0004020202020204" pitchFamily="34" charset="0"/>
              </a:rPr>
              <a:t>• Incentivize workers when changes are made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0293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sz="2800" b="1" dirty="0"/>
              <a:t>Realistic Implementation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29000" cy="356616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56616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30–60 Day 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" y="2673681"/>
            <a:ext cx="301752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D6D7E"/>
                </a:solidFill>
              </a:rPr>
              <a:t>• Start on one active Gaylor project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Place QR codes in common work and safety areas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Possibly introduce a short bridge learning program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Measure results before expanding the program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828800"/>
            <a:ext cx="3429000" cy="356616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828800"/>
            <a:ext cx="73152" cy="356616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Who Is Involved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29000" cy="356616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73152" cy="3566160"/>
          </a:xfrm>
          <a:prstGeom prst="rect">
            <a:avLst/>
          </a:prstGeom>
          <a:solidFill>
            <a:srgbClr val="E791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20" y="199339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Cost &amp; Risk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92E783-3AEC-5B02-46CA-0FFA2B3D711B}"/>
              </a:ext>
            </a:extLst>
          </p:cNvPr>
          <p:cNvSpPr txBox="1"/>
          <p:nvPr/>
        </p:nvSpPr>
        <p:spPr>
          <a:xfrm>
            <a:off x="8289036" y="2673681"/>
            <a:ext cx="30175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D6D7E"/>
                </a:solidFill>
              </a:rPr>
              <a:t>• Existing Google Form and dashboard software keep costs low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Low participation could limit useful data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Incomplete reports may reduce report quality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Employees may fear the system is used to assign blame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3164B7-4E7E-EE2E-D099-8C7FB7DA140A}"/>
              </a:ext>
            </a:extLst>
          </p:cNvPr>
          <p:cNvSpPr txBox="1"/>
          <p:nvPr/>
        </p:nvSpPr>
        <p:spPr>
          <a:xfrm>
            <a:off x="4507991" y="2669622"/>
            <a:ext cx="31754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5D6D7E"/>
                </a:solidFill>
              </a:rPr>
              <a:t>• Field employees submit quick near-miss reports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The safety team and project leadership can review trends weekly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Safety personnel identify recurring hazards</a:t>
            </a:r>
          </a:p>
          <a:p>
            <a:r>
              <a:rPr lang="en-US" sz="1600" dirty="0">
                <a:solidFill>
                  <a:srgbClr val="5D6D7E"/>
                </a:solidFill>
              </a:rPr>
              <a:t>• Corrective actions are assigned when patterns appear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48251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rPr lang="en-US" dirty="0"/>
              <a:t>How will we know its working?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73152" cy="141732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933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Near misses captured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1" y="2487168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 dirty="0"/>
              <a:t>Are we capturing safety information that was previously difficult to measure?</a:t>
            </a:r>
            <a:endParaRPr sz="1200" dirty="0"/>
          </a:p>
        </p:txBody>
      </p:sp>
      <p:sp>
        <p:nvSpPr>
          <p:cNvPr id="10" name="Rounded Rectangle 9"/>
          <p:cNvSpPr/>
          <p:nvPr/>
        </p:nvSpPr>
        <p:spPr>
          <a:xfrm>
            <a:off x="4160520" y="18288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73152" cy="141732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9933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Reporting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87168"/>
            <a:ext cx="256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 dirty="0"/>
              <a:t>Can a worker submit a useful report quickly enough to encourage participation?</a:t>
            </a:r>
            <a:endParaRPr sz="1200" dirty="0"/>
          </a:p>
        </p:txBody>
      </p:sp>
      <p:sp>
        <p:nvSpPr>
          <p:cNvPr id="14" name="Rounded Rectangle 13"/>
          <p:cNvSpPr/>
          <p:nvPr/>
        </p:nvSpPr>
        <p:spPr>
          <a:xfrm>
            <a:off x="7589520" y="18288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89520" y="1828800"/>
            <a:ext cx="73152" cy="1417320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99339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Repeat hazards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871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 dirty="0"/>
              <a:t>Are repeated hazards, activities, or locations becoming visible?</a:t>
            </a:r>
            <a:endParaRPr sz="1200"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886200"/>
            <a:ext cx="73152" cy="141732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5079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1" y="45445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 dirty="0"/>
              <a:t>How quickly are submitted reports reviewed and addressed?</a:t>
            </a:r>
            <a:endParaRPr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4160520" y="38862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60520" y="3886200"/>
            <a:ext cx="73152" cy="141732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405079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Corrective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1" y="45445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 dirty="0"/>
              <a:t>Are identified risks leading to documented corrective actions?</a:t>
            </a:r>
            <a:endParaRPr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7589520" y="3886200"/>
            <a:ext cx="2971800" cy="1417320"/>
          </a:xfrm>
          <a:prstGeom prst="roundRect">
            <a:avLst/>
          </a:prstGeom>
          <a:solidFill>
            <a:srgbClr val="EEF5FC"/>
          </a:solidFill>
          <a:ln>
            <a:solidFill>
              <a:srgbClr val="D2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589520" y="3886200"/>
            <a:ext cx="73152" cy="1417320"/>
          </a:xfrm>
          <a:prstGeom prst="rect">
            <a:avLst/>
          </a:prstGeom>
          <a:solidFill>
            <a:srgbClr val="479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18120" y="4050791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42134"/>
                </a:solidFill>
                <a:latin typeface="Aptos"/>
              </a:defRPr>
            </a:pPr>
            <a:r>
              <a:t>Repeat after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4544568"/>
            <a:ext cx="2560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r>
              <a:rPr lang="en-US" sz="1200"/>
              <a:t>Did the same hazard continue after corrective action was taken?</a:t>
            </a:r>
            <a:endParaRPr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D6D7E"/>
                </a:solidFill>
                <a:latin typeface="Aptos"/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ACDEB"/>
                </a:solidFill>
                <a:latin typeface="Aptos Display"/>
              </a:defRPr>
            </a:pPr>
            <a:r>
              <a:rPr dirty="0"/>
              <a:t>THE END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26249" y="1959798"/>
            <a:ext cx="9800461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sz="3400" b="1" dirty="0"/>
              <a:t>Gaylor should not have to wait for an injury to happen to discover a safety risk.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708633" y="4389120"/>
            <a:ext cx="8744253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BED7F0"/>
                </a:solidFill>
                <a:latin typeface="Aptos"/>
              </a:defRPr>
            </a:pPr>
            <a:r>
              <a:rPr lang="en-US" sz="2300" dirty="0"/>
              <a:t>Capture the warning. Identify the pattern. Act before the recordable.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4"/>
                </a:solidFill>
                <a:latin typeface="Aptos Display"/>
              </a:defRPr>
            </a:pPr>
            <a:r>
              <a:t>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5156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D6D7E"/>
                </a:solidFill>
                <a:latin typeface="Aptos"/>
              </a:defRPr>
            </a:pPr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481328"/>
            <a:ext cx="1188720" cy="64008"/>
          </a:xfrm>
          <a:prstGeom prst="rect">
            <a:avLst/>
          </a:prstGeom>
          <a:solidFill>
            <a:srgbClr val="005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795037"/>
            <a:ext cx="10698480" cy="5268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  <a:p>
            <a:pPr>
              <a:spcAft>
                <a:spcPts val="1400"/>
              </a:spcAft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1400"/>
              </a:spcAft>
              <a:buFont typeface="Arial" panose="020B0604020202020204" pitchFamily="34" charset="0"/>
              <a:buChar char="•"/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Gaylor Electric.</a:t>
            </a:r>
            <a:r>
              <a:rPr lang="en-US" dirty="0"/>
              <a:t> </a:t>
            </a:r>
            <a:r>
              <a:rPr lang="en-US" i="1" dirty="0"/>
              <a:t>2026 Strategy &amp; Goals Team Scoring Detail.</a:t>
            </a:r>
            <a:r>
              <a:rPr lang="en-US" dirty="0"/>
              <a:t> June 30, 2026. Internal company material.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Occupational Safety and Health Administration (OSHA).</a:t>
            </a:r>
            <a:r>
              <a:rPr lang="en-US" dirty="0"/>
              <a:t> </a:t>
            </a:r>
            <a:r>
              <a:rPr lang="en-US" i="1" dirty="0"/>
              <a:t>Leading Indicators, Incident Investigation, and Program Evaluation and Improvement.</a:t>
            </a:r>
            <a:r>
              <a:rPr lang="en-US" dirty="0"/>
              <a:t> U.S. Department of Labor.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CPWR, The Center for Construction Research and Training.</a:t>
            </a:r>
            <a:r>
              <a:rPr lang="en-US" dirty="0"/>
              <a:t> </a:t>
            </a:r>
            <a:r>
              <a:rPr lang="en-US" i="1" dirty="0"/>
              <a:t>Strengthening Jobsite Safety Climate by Using and Improving Leading Indicators.</a:t>
            </a:r>
            <a:endParaRPr lang="en-US" dirty="0"/>
          </a:p>
          <a:p>
            <a:pPr>
              <a:lnSpc>
                <a:spcPct val="200000"/>
              </a:lnSpc>
              <a:spcAft>
                <a:spcPts val="1400"/>
              </a:spcAft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  <a:p>
            <a:pPr>
              <a:spcAft>
                <a:spcPts val="1400"/>
              </a:spcAft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  <a:p>
            <a:pPr>
              <a:spcAft>
                <a:spcPts val="1400"/>
              </a:spcAft>
              <a:defRPr sz="1400">
                <a:solidFill>
                  <a:srgbClr val="142134"/>
                </a:solidFill>
                <a:latin typeface="Aptos"/>
              </a:defRPr>
            </a:pP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CD2F91-B033-CA8F-2B75-C6CB0383A11F}"/>
              </a:ext>
            </a:extLst>
          </p:cNvPr>
          <p:cNvSpPr txBox="1"/>
          <p:nvPr/>
        </p:nvSpPr>
        <p:spPr>
          <a:xfrm>
            <a:off x="4859514" y="5516426"/>
            <a:ext cx="244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ptos Slab Black" panose="020F0502020204030204" pitchFamily="34" charset="0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825</Words>
  <Application>Microsoft Office PowerPoint</Application>
  <PresentationFormat>Widescreen</PresentationFormat>
  <Paragraphs>115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Slab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Dawson Butler</cp:lastModifiedBy>
  <cp:revision>3</cp:revision>
  <dcterms:created xsi:type="dcterms:W3CDTF">2013-01-27T09:14:16Z</dcterms:created>
  <dcterms:modified xsi:type="dcterms:W3CDTF">2026-07-15T00:53:23Z</dcterms:modified>
  <cp:category/>
</cp:coreProperties>
</file>